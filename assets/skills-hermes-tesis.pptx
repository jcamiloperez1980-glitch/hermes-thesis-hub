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2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10972800" cy="3200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486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BBF"/>
                </a:solidFill>
                <a:latin typeface="Calibri"/>
              </a:defRPr>
            </a:pPr>
            <a:r>
              <a:t>sapamole18  ·  Tesis Doctoral  ·  Hermes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kills-infograph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11247120" cy="62179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7C3AED"/>
                </a:solidFill>
                <a:latin typeface="Calibri"/>
              </a:defRPr>
            </a:pPr>
            <a:r>
              <a:t>🐴  Ponytail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6D6A0"/>
                </a:solidFill>
                <a:latin typeface="Calibri"/>
              </a:defRPr>
            </a:pPr>
            <a:r>
              <a:t>Modo lazy senior dev activo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CCCEE8"/>
                </a:solidFill>
                <a:latin typeface="Calibri"/>
              </a:defRPr>
            </a:pPr>
            <a:r>
              <a:t>▸  Filosofía: el mejor código es el que nunca escribiste</a:t>
            </a:r>
          </a:p>
          <a:p>
            <a:pPr>
              <a:spcAft>
                <a:spcPts val="1200"/>
              </a:spcAft>
              <a:defRPr sz="1500">
                <a:solidFill>
                  <a:srgbClr val="CCCEE8"/>
                </a:solidFill>
                <a:latin typeface="Calibri"/>
              </a:defRPr>
            </a:pPr>
            <a:r>
              <a:t>▸  Escalera: YAGNI → Reuso → Stdlib → Nativo → 1 línea → Mínimo</a:t>
            </a:r>
          </a:p>
          <a:p>
            <a:pPr>
              <a:spcAft>
                <a:spcPts val="1200"/>
              </a:spcAft>
              <a:defRPr sz="1500">
                <a:solidFill>
                  <a:srgbClr val="CCCEE8"/>
                </a:solidFill>
                <a:latin typeface="Calibri"/>
              </a:defRPr>
            </a:pPr>
            <a:r>
              <a:t>▸  Impacto: -54% código · -20% costo · -27% tiempo · 100% seguro</a:t>
            </a:r>
          </a:p>
          <a:p>
            <a:pPr>
              <a:spcAft>
                <a:spcPts val="1200"/>
              </a:spcAft>
              <a:defRPr sz="1500">
                <a:solidFill>
                  <a:srgbClr val="CCCEE8"/>
                </a:solidFill>
                <a:latin typeface="Calibri"/>
              </a:defRPr>
            </a:pPr>
            <a:r>
              <a:t>▸  Comandos: /ponytail [lite|full|ultra|off] · /ponytail-review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F476F"/>
                </a:solidFill>
                <a:latin typeface="Calibri"/>
              </a:defRPr>
            </a:pPr>
            <a:r>
              <a:t>✍️  Humanizer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6D6A0"/>
                </a:solidFill>
                <a:latin typeface="Calibri"/>
              </a:defRPr>
            </a:pPr>
            <a:r>
              <a:t>Elimina señales de escritura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CCCEE8"/>
                </a:solidFill>
                <a:latin typeface="Calibri"/>
              </a:defRPr>
            </a:pPr>
            <a:r>
              <a:t>▸  33 patrones detectables: simbolismo, voz pasiva, em dash, regla de 3...</a:t>
            </a:r>
          </a:p>
          <a:p>
            <a:pPr>
              <a:spcAft>
                <a:spcPts val="1200"/>
              </a:spcAft>
              <a:defRPr sz="1500">
                <a:solidFill>
                  <a:srgbClr val="CCCEE8"/>
                </a:solidFill>
                <a:latin typeface="Calibri"/>
              </a:defRPr>
            </a:pPr>
            <a:r>
              <a:t>▸  Basado en guía 'Signs of AI Writing' de Wikipedia</a:t>
            </a:r>
          </a:p>
          <a:p>
            <a:pPr>
              <a:spcAft>
                <a:spcPts val="1200"/>
              </a:spcAft>
              <a:defRPr sz="1500">
                <a:solidFill>
                  <a:srgbClr val="CCCEE8"/>
                </a:solidFill>
                <a:latin typeface="Calibri"/>
              </a:defRPr>
            </a:pPr>
            <a:r>
              <a:t>▸  Uso: 'Humaniza este texto: ...' o pega y pide revisión</a:t>
            </a:r>
          </a:p>
          <a:p>
            <a:pPr>
              <a:spcAft>
                <a:spcPts val="1200"/>
              </a:spcAft>
              <a:defRPr sz="1500">
                <a:solidFill>
                  <a:srgbClr val="CCCEE8"/>
                </a:solidFill>
                <a:latin typeface="Calibri"/>
              </a:defRPr>
            </a:pPr>
            <a:r>
              <a:t>▸  Ideal para capítulos de tesis, artículos, correos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D166"/>
                </a:solidFill>
                <a:latin typeface="Calibri"/>
              </a:defRPr>
            </a:pPr>
            <a:r>
              <a:t>🔍  Find-Skills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6D6A0"/>
                </a:solidFill>
                <a:latin typeface="Calibri"/>
              </a:defRPr>
            </a:pPr>
            <a:r>
              <a:t>Descubridor de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CCCEE8"/>
                </a:solidFill>
                <a:latin typeface="Calibri"/>
              </a:defRPr>
            </a:pPr>
            <a:r>
              <a:t>▸  Busca en el ecosistema abierto: npx skills find &lt;query&gt;</a:t>
            </a:r>
          </a:p>
          <a:p>
            <a:pPr>
              <a:spcAft>
                <a:spcPts val="1200"/>
              </a:spcAft>
              <a:defRPr sz="1500">
                <a:solidFill>
                  <a:srgbClr val="CCCEE8"/>
                </a:solidFill>
                <a:latin typeface="Calibri"/>
              </a:defRPr>
            </a:pPr>
            <a:r>
              <a:t>▸  Instala: npx skills add &lt;owner/repo@skill&gt;</a:t>
            </a:r>
          </a:p>
          <a:p>
            <a:pPr>
              <a:spcAft>
                <a:spcPts val="1200"/>
              </a:spcAft>
              <a:defRPr sz="1500">
                <a:solidFill>
                  <a:srgbClr val="CCCEE8"/>
                </a:solidFill>
                <a:latin typeface="Calibri"/>
              </a:defRPr>
            </a:pPr>
            <a:r>
              <a:t>▸  Miles disponibles: office, data science, devops, diseño...</a:t>
            </a:r>
          </a:p>
          <a:p>
            <a:pPr>
              <a:spcAft>
                <a:spcPts val="1200"/>
              </a:spcAft>
              <a:defRPr sz="1500">
                <a:solidFill>
                  <a:srgbClr val="CCCEE8"/>
                </a:solidFill>
                <a:latin typeface="Calibri"/>
              </a:defRPr>
            </a:pPr>
            <a:r>
              <a:t>▸  Uso: 'Encuentra un skill para hacer X'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8C42"/>
                </a:solidFill>
                <a:latin typeface="Calibri"/>
              </a:defRPr>
            </a:pPr>
            <a:r>
              <a:t>📊  PowerPoint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6D6A0"/>
                </a:solidFill>
                <a:latin typeface="Calibri"/>
              </a:defRPr>
            </a:pPr>
            <a:r>
              <a:t>Presentaciones con python-pptx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CCCEE8"/>
                </a:solidFill>
                <a:latin typeface="Calibri"/>
              </a:defRPr>
            </a:pPr>
            <a:r>
              <a:t>▸  Genera .pptx profesionales desde código Python</a:t>
            </a:r>
          </a:p>
          <a:p>
            <a:pPr>
              <a:spcAft>
                <a:spcPts val="1200"/>
              </a:spcAft>
              <a:defRPr sz="1500">
                <a:solidFill>
                  <a:srgbClr val="CCCEE8"/>
                </a:solidFill>
                <a:latin typeface="Calibri"/>
              </a:defRPr>
            </a:pPr>
            <a:r>
              <a:t>▸  Formas, colores, tarjetas, tablas, gráficos e imágenes</a:t>
            </a:r>
          </a:p>
          <a:p>
            <a:pPr>
              <a:spcAft>
                <a:spcPts val="1200"/>
              </a:spcAft>
              <a:defRPr sz="1500">
                <a:solidFill>
                  <a:srgbClr val="CCCEE8"/>
                </a:solidFill>
                <a:latin typeface="Calibri"/>
              </a:defRPr>
            </a:pPr>
            <a:r>
              <a:t>▸  ¡Esta presentación fue generada con este skill!</a:t>
            </a:r>
          </a:p>
          <a:p>
            <a:pPr>
              <a:spcAft>
                <a:spcPts val="1200"/>
              </a:spcAft>
              <a:defRPr sz="1500">
                <a:solidFill>
                  <a:srgbClr val="CCCEE8"/>
                </a:solidFill>
                <a:latin typeface="Calibri"/>
              </a:defRPr>
            </a:pPr>
            <a:r>
              <a:t>▸  Uso: 'Crea una presentación sobre [tema]'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1C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51CF66"/>
                </a:solidFill>
                <a:latin typeface="Calibri"/>
              </a:defRPr>
            </a:pPr>
            <a:r>
              <a:t>📚  OpenAlex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6D6A0"/>
                </a:solidFill>
                <a:latin typeface="Calibri"/>
              </a:defRPr>
            </a:pPr>
            <a:r>
              <a:t>250M+ artículos académicos reales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CCCEE8"/>
                </a:solidFill>
                <a:latin typeface="Calibri"/>
              </a:defRPr>
            </a:pPr>
            <a:r>
              <a:t>▸  IEEE, ACM, Springer, PubMed, arXiv, Scopus...</a:t>
            </a:r>
          </a:p>
          <a:p>
            <a:pPr>
              <a:spcAft>
                <a:spcPts val="1200"/>
              </a:spcAft>
              <a:defRPr sz="1500">
                <a:solidFill>
                  <a:srgbClr val="CCCEE8"/>
                </a:solidFill>
                <a:latin typeface="Calibri"/>
              </a:defRPr>
            </a:pPr>
            <a:r>
              <a:t>▸  Gratuito · Sin API key · Código abierto</a:t>
            </a:r>
          </a:p>
          <a:p>
            <a:pPr>
              <a:spcAft>
                <a:spcPts val="1200"/>
              </a:spcAft>
              <a:defRPr sz="1500">
                <a:solidFill>
                  <a:srgbClr val="CCCEE8"/>
                </a:solidFill>
                <a:latin typeface="Calibri"/>
              </a:defRPr>
            </a:pPr>
            <a:r>
              <a:t>▸  Filtros: año, tipo, open access, citas mínimas</a:t>
            </a:r>
          </a:p>
          <a:p>
            <a:pPr>
              <a:spcAft>
                <a:spcPts val="1200"/>
              </a:spcAft>
              <a:defRPr sz="1500">
                <a:solidFill>
                  <a:srgbClr val="CCCEE8"/>
                </a:solidFill>
                <a:latin typeface="Calibri"/>
              </a:defRPr>
            </a:pPr>
            <a:r>
              <a:t>▸  Resultados con DOI real — cero alucinaciones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39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39DAD"/>
                </a:solidFill>
                <a:latin typeface="Calibri"/>
              </a:defRPr>
            </a:pPr>
            <a:r>
              <a:t>🦀  Typst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6D6A0"/>
                </a:solidFill>
                <a:latin typeface="Calibri"/>
              </a:defRPr>
            </a:pPr>
            <a:r>
              <a:t>Composición tipográfica moderna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CCCEE8"/>
                </a:solidFill>
                <a:latin typeface="Calibri"/>
              </a:defRPr>
            </a:pPr>
            <a:r>
              <a:t>▸  Como LaTeX pero más rápido y con sintaxis limpia</a:t>
            </a:r>
          </a:p>
          <a:p>
            <a:pPr>
              <a:spcAft>
                <a:spcPts val="1200"/>
              </a:spcAft>
              <a:defRPr sz="1500">
                <a:solidFill>
                  <a:srgbClr val="CCCEE8"/>
                </a:solidFill>
                <a:latin typeface="Calibri"/>
              </a:defRPr>
            </a:pPr>
            <a:r>
              <a:t>▸  APA 7 automático con @preview/apa7-ish</a:t>
            </a:r>
          </a:p>
          <a:p>
            <a:pPr>
              <a:spcAft>
                <a:spcPts val="1200"/>
              </a:spcAft>
              <a:defRPr sz="1500">
                <a:solidFill>
                  <a:srgbClr val="CCCEE8"/>
                </a:solidFill>
                <a:latin typeface="Calibri"/>
              </a:defRPr>
            </a:pPr>
            <a:r>
              <a:t>▸  Compilación instantánea: typst compile → PDF</a:t>
            </a:r>
          </a:p>
          <a:p>
            <a:pPr>
              <a:spcAft>
                <a:spcPts val="1200"/>
              </a:spcAft>
              <a:defRPr sz="1500">
                <a:solidFill>
                  <a:srgbClr val="CCCEE8"/>
                </a:solidFill>
                <a:latin typeface="Calibri"/>
              </a:defRPr>
            </a:pPr>
            <a:r>
              <a:t>▸  Hot-reload: typst watch documento.typ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6D6A0"/>
                </a:solidFill>
                <a:latin typeface="Calibri"/>
              </a:defRPr>
            </a:pPr>
            <a:r>
              <a:t>📊  Impacto Medido — Ponytail</a:t>
            </a:r>
          </a:p>
        </p:txBody>
      </p:sp>
      <p:pic>
        <p:nvPicPr>
          <p:cNvPr id="4" name="Picture 3" descr="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124712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BBF"/>
                </a:solidFill>
                <a:latin typeface="Calibri"/>
              </a:defRPr>
            </a:pPr>
            <a:r>
              <a:t>Medido en sesiones reales de Claude Code editando FastAPI + React. n=4 por tarea, 12 tareas. Haiku 4.5.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6D6A0"/>
                </a:solidFill>
                <a:latin typeface="Calibri"/>
              </a:defRPr>
            </a:pPr>
            <a:r>
              <a:t>📊  Diagrama: Flujo de Trabajo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BBF"/>
                </a:solidFill>
                <a:latin typeface="Calibri"/>
              </a:defRPr>
            </a:pPr>
            <a:r>
              <a:t>OpenAlex → Zotero → Obsidian → Typst → PowerPoint → Tesis Doctoral</a:t>
            </a:r>
          </a:p>
        </p:txBody>
      </p:sp>
      <p:pic>
        <p:nvPicPr>
          <p:cNvPr id="5" name="Picture 4" descr="mermaid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560919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C3AED"/>
                </a:solidFill>
                <a:latin typeface="Calibri"/>
              </a:defRPr>
            </a:pPr>
            <a:r>
              <a:t>🥧  Skills del Ecosistema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BBF"/>
                </a:solidFill>
                <a:latin typeface="Calibri"/>
              </a:defRPr>
            </a:pPr>
            <a:r>
              <a:t>Distribución de skills instalados en Hermes</a:t>
            </a:r>
          </a:p>
        </p:txBody>
      </p:sp>
      <p:pic>
        <p:nvPicPr>
          <p:cNvPr id="5" name="Picture 4" descr="mermaid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290816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39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39DAD"/>
                </a:solidFill>
                <a:latin typeface="Calibri"/>
              </a:defRPr>
            </a:pPr>
            <a:r>
              <a:t>📅  Cronograma de Tesis (Gantt)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BBF"/>
                </a:solidFill>
                <a:latin typeface="Calibri"/>
              </a:defRPr>
            </a:pPr>
            <a:r>
              <a:t>Planificación temporal de la investigación doctoral</a:t>
            </a:r>
          </a:p>
        </p:txBody>
      </p:sp>
      <p:pic>
        <p:nvPicPr>
          <p:cNvPr id="5" name="Picture 4" descr="mermaid_gan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22246225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C3AED"/>
                </a:solidFill>
                <a:latin typeface="Calibri"/>
              </a:defRPr>
            </a:pPr>
            <a:r>
              <a:t>🧠  Mapa Mental del Proyecto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BBF"/>
                </a:solidFill>
                <a:latin typeface="Calibri"/>
              </a:defRPr>
            </a:pPr>
            <a:r>
              <a:t>Estructura completa de la tesis doctoral</a:t>
            </a:r>
          </a:p>
        </p:txBody>
      </p:sp>
      <p:pic>
        <p:nvPicPr>
          <p:cNvPr id="5" name="Picture 4" descr="mermaid_min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8923937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F476F"/>
                </a:solidFill>
                <a:latin typeface="Calibri"/>
              </a:defRPr>
            </a:pPr>
            <a:r>
              <a:t>🔄  Secuencia: Idea → Paper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BBF"/>
                </a:solidFill>
                <a:latin typeface="Calibri"/>
              </a:defRPr>
            </a:pPr>
            <a:r>
              <a:t>Interacción entre todas las herramientas del ecosistema</a:t>
            </a:r>
          </a:p>
        </p:txBody>
      </p:sp>
      <p:pic>
        <p:nvPicPr>
          <p:cNvPr id="5" name="Picture 4" descr="mermaid_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020057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7C3AED"/>
                </a:solidFill>
                <a:latin typeface="Calibri"/>
              </a:defRPr>
            </a:pPr>
            <a:r>
              <a:t>📝  Obsidian + Hermes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BBF"/>
                </a:solidFill>
                <a:latin typeface="Calibri"/>
              </a:defRPr>
            </a:pPr>
            <a:r>
              <a:t>Tu vault de conocimiento conectado al chat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651760" cy="2286000"/>
          </a:xfrm>
          <a:prstGeom prst="rect">
            <a:avLst/>
          </a:prstGeom>
          <a:solidFill>
            <a:srgbClr val="1A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71600" y="1554480"/>
            <a:ext cx="640080" cy="6400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157276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774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C3AED"/>
                </a:solidFill>
                <a:latin typeface="Calibri"/>
              </a:defRPr>
            </a:pPr>
            <a:r>
              <a:t>Leer vault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8892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EE8"/>
                </a:solidFill>
                <a:latin typeface="Calibri"/>
              </a:defRPr>
            </a:pPr>
            <a:r>
              <a:t>Busca notas por</a:t>
            </a:r>
            <a:br/>
            <a:r>
              <a:t>contenido y etiquetas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371600"/>
            <a:ext cx="2651760" cy="2286000"/>
          </a:xfrm>
          <a:prstGeom prst="rect">
            <a:avLst/>
          </a:prstGeom>
          <a:solidFill>
            <a:srgbClr val="1A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297680" y="1554480"/>
            <a:ext cx="640080" cy="6400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57276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t>✏️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3774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C3AED"/>
                </a:solidFill>
                <a:latin typeface="Calibri"/>
              </a:defRPr>
            </a:pPr>
            <a:r>
              <a:t>Escribir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78892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EE8"/>
                </a:solidFill>
                <a:latin typeface="Calibri"/>
              </a:defRPr>
            </a:pPr>
            <a:r>
              <a:t>Crea y edita notas</a:t>
            </a:r>
            <a:br/>
            <a:r>
              <a:t>desde el chat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371600"/>
            <a:ext cx="2651760" cy="2286000"/>
          </a:xfrm>
          <a:prstGeom prst="rect">
            <a:avLst/>
          </a:prstGeom>
          <a:solidFill>
            <a:srgbClr val="1A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223760" y="1554480"/>
            <a:ext cx="640080" cy="6400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9480" y="157276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3774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C3AED"/>
                </a:solidFill>
                <a:latin typeface="Calibri"/>
              </a:defRPr>
            </a:pPr>
            <a:r>
              <a:t>Vincular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78892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EE8"/>
                </a:solidFill>
                <a:latin typeface="Calibri"/>
              </a:defRPr>
            </a:pPr>
            <a:r>
              <a:t>Cruza referencias</a:t>
            </a:r>
            <a:br/>
            <a:r>
              <a:t>Obsidian ↔ Zotero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35440" y="1371600"/>
            <a:ext cx="2651760" cy="2286000"/>
          </a:xfrm>
          <a:prstGeom prst="rect">
            <a:avLst/>
          </a:prstGeom>
          <a:solidFill>
            <a:srgbClr val="1A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149840" y="1554480"/>
            <a:ext cx="640080" cy="6400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95560" y="157276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23774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C3AED"/>
                </a:solidFill>
                <a:latin typeface="Calibri"/>
              </a:defRPr>
            </a:pPr>
            <a:r>
              <a:t>Lit. 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278892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EE8"/>
                </a:solidFill>
                <a:latin typeface="Calibri"/>
              </a:defRPr>
            </a:pPr>
            <a:r>
              <a:t>Organiza tu revisión</a:t>
            </a:r>
            <a:br/>
            <a:r>
              <a:t>bibliográfica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931920"/>
            <a:ext cx="11247120" cy="2560320"/>
          </a:xfrm>
          <a:prstGeom prst="rect">
            <a:avLst/>
          </a:prstGeom>
          <a:solidFill>
            <a:srgbClr val="1A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114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Calibri"/>
              </a:defRPr>
            </a:pPr>
            <a:r>
              <a:t>💡  Ideas para tu tesis: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5720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EE8"/>
                </a:solidFill>
                <a:latin typeface="Calibri"/>
              </a:defRPr>
            </a:pPr>
            <a:r>
              <a:t>▸ 'Crea una nota con el resumen del paper X'</a:t>
            </a:r>
            <a:br/>
            <a:r>
              <a:t>▸ 'Busca en mi vault notas sobre metodología'</a:t>
            </a:r>
            <a:br/>
            <a:r>
              <a:t>▸ 'Organiza mis notas en estructura de tesis'</a:t>
            </a:r>
            <a:br/>
            <a:r>
              <a:t>▸ 'Liga esta referencia de Zotero con mi nota del capítulo 2'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CC3333"/>
                </a:solidFill>
                <a:latin typeface="Calibri"/>
              </a:defRPr>
            </a:pPr>
            <a:r>
              <a:t>📚  Zotero + Hermes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BBF"/>
                </a:solidFill>
                <a:latin typeface="Calibri"/>
              </a:defRPr>
            </a:pPr>
            <a:r>
              <a:t>Tu gestor bibliográfico accesible desde el chat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47120" cy="1828800"/>
          </a:xfrm>
          <a:prstGeom prst="rect">
            <a:avLst/>
          </a:prstGeom>
          <a:solidFill>
            <a:srgbClr val="1A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C3333"/>
                </a:solidFill>
                <a:latin typeface="Calibri"/>
              </a:defRPr>
            </a:pPr>
            <a:r>
              <a:t>🔧  Capacidades: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EE8"/>
                </a:solidFill>
                <a:latin typeface="Calibri"/>
              </a:defRPr>
            </a:pPr>
            <a:r>
              <a:t>▸ Abrir Zotero y buscar referencias    ▸ Exportar bibliografías APA 7</a:t>
            </a:r>
            <a:br/>
            <a:r>
              <a:t>▸ Organizar colecciones y etiquetas     ▸ Vincular PDFs y notas</a:t>
            </a:r>
          </a:p>
        </p:txBody>
      </p:sp>
      <p:pic>
        <p:nvPicPr>
          <p:cNvPr id="8" name="Picture 7" descr="integ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474720"/>
            <a:ext cx="1124712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6D6A0"/>
                </a:solidFill>
                <a:latin typeface="Calibri"/>
              </a:defRPr>
            </a:pPr>
            <a:r>
              <a:t>🔄  Flujo de Trabajo — Tesis Doctoral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BBF"/>
                </a:solidFill>
                <a:latin typeface="Calibri"/>
              </a:defRPr>
            </a:pPr>
            <a:r>
              <a:t>Todo desde un solo chat: investiga → organiza → analiza → escribe → presenta</a:t>
            </a:r>
          </a:p>
        </p:txBody>
      </p:sp>
      <p:pic>
        <p:nvPicPr>
          <p:cNvPr id="5" name="Picture 4" descr="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47120" cy="4114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5760720"/>
            <a:ext cx="11247120" cy="731520"/>
          </a:xfrm>
          <a:prstGeom prst="rect">
            <a:avLst/>
          </a:prstGeom>
          <a:solidFill>
            <a:srgbClr val="1A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8064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6D6A0"/>
                </a:solidFill>
                <a:latin typeface="Calibri"/>
              </a:defRPr>
            </a:pPr>
            <a:r>
              <a:t>🧑‍🔬  Todo desde un solo chat: tú dices lo que necesitas y yo ejecuto. Sin cambiar de ventana.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🎯  Próximos Pasos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2651760" cy="2286000"/>
          </a:xfrm>
          <a:prstGeom prst="rect">
            <a:avLst/>
          </a:prstGeom>
          <a:solidFill>
            <a:srgbClr val="1A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265176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C3AED"/>
                </a:solidFill>
                <a:latin typeface="Calibri"/>
              </a:defRPr>
            </a:pPr>
            <a:r>
              <a:t>1️⃣ Configurar correo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260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EE8"/>
                </a:solidFill>
                <a:latin typeface="Calibri"/>
              </a:defRPr>
            </a:pPr>
            <a:r>
              <a:t>Himalaya + Gmail</a:t>
            </a:r>
            <a:br/>
            <a:r>
              <a:t>alertas de papers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2011680"/>
            <a:ext cx="2651760" cy="2286000"/>
          </a:xfrm>
          <a:prstGeom prst="rect">
            <a:avLst/>
          </a:prstGeom>
          <a:solidFill>
            <a:srgbClr val="1A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0" y="2011680"/>
            <a:ext cx="265176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2286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C3AED"/>
                </a:solidFill>
                <a:latin typeface="Calibri"/>
              </a:defRPr>
            </a:pPr>
            <a:r>
              <a:t>2️⃣ Conectar Obsidian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9260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EE8"/>
                </a:solidFill>
                <a:latin typeface="Calibri"/>
              </a:defRPr>
            </a:pPr>
            <a:r>
              <a:t>Abrir vault para</a:t>
            </a:r>
            <a:br/>
            <a:r>
              <a:t>notas desde el chat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011680"/>
            <a:ext cx="2651760" cy="2286000"/>
          </a:xfrm>
          <a:prstGeom prst="rect">
            <a:avLst/>
          </a:prstGeom>
          <a:solidFill>
            <a:srgbClr val="1A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2011680"/>
            <a:ext cx="2651760" cy="54864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286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C3333"/>
                </a:solidFill>
                <a:latin typeface="Calibri"/>
              </a:defRPr>
            </a:pPr>
            <a:r>
              <a:t>3️⃣ Abrir Zotero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9260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EE8"/>
                </a:solidFill>
                <a:latin typeface="Calibri"/>
              </a:defRPr>
            </a:pPr>
            <a:r>
              <a:t>Gestionar referencias</a:t>
            </a:r>
            <a:br/>
            <a:r>
              <a:t>desde OpenAlex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2011680"/>
            <a:ext cx="2651760" cy="2286000"/>
          </a:xfrm>
          <a:prstGeom prst="rect">
            <a:avLst/>
          </a:prstGeom>
          <a:solidFill>
            <a:srgbClr val="1A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35440" y="2011680"/>
            <a:ext cx="2651760" cy="54864"/>
          </a:xfrm>
          <a:prstGeom prst="rect">
            <a:avLst/>
          </a:prstGeom>
          <a:solidFill>
            <a:srgbClr val="239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0" y="2286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39DAD"/>
                </a:solidFill>
                <a:latin typeface="Calibri"/>
              </a:defRPr>
            </a:pPr>
            <a:r>
              <a:t>4️⃣ Probar Typst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29260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EE8"/>
                </a:solidFill>
                <a:latin typeface="Calibri"/>
              </a:defRPr>
            </a:pPr>
            <a:r>
              <a:t>Documento de prueba</a:t>
            </a:r>
            <a:br/>
            <a:r>
              <a:t>con APA 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0" y="4754880"/>
            <a:ext cx="8503920" cy="1371600"/>
          </a:xfrm>
          <a:prstGeom prst="rect">
            <a:avLst/>
          </a:prstGeom>
          <a:solidFill>
            <a:srgbClr val="1A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03120" y="4937760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6D6A0"/>
                </a:solidFill>
                <a:latin typeface="Calibri"/>
              </a:defRPr>
            </a:pPr>
            <a:r>
              <a:t>💬  Recuerda: háblame en lenguaje natural. No necesitas comandos especiales.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5486400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EE8"/>
                </a:solidFill>
                <a:latin typeface="Calibri"/>
              </a:defRPr>
            </a:pPr>
            <a:r>
              <a:t>'Busca papers sobre genética' · 'Guarda esto en Obsidian' · 'Crea un PDF en APA'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00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BBF"/>
                </a:solidFill>
                <a:latin typeface="Calibri"/>
              </a:defRPr>
            </a:pPr>
            <a:r>
              <a:t>Hermes Agent · sapamole18 · Tesis Doctoral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